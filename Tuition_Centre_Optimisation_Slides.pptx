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D02D0E1-9CE0-4AB2-8BCE-20EC65DF7CE0}">
  <a:tblStyle styleId="{AD02D0E1-9CE0-4AB2-8BCE-20EC65DF7CE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18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cca778b973_2_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" name="Google Shape;54;g3cca778b973_2_2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cca778b973_2_2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cca778b973_2_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6" name="Google Shape;66;g3cca778b973_2_14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cca778b973_2_14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cca778b973_2_4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" name="Google Shape;94;g3cca778b973_2_41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g3cca778b973_2_41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cca778b973_2_6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" name="Google Shape;115;g3cca778b973_2_61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g3cca778b973_2_61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ca778b973_2_9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5" name="Google Shape;145;g3cca778b973_2_90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g3cca778b973_2_90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cca778b973_2_1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4" name="Google Shape;174;g3cca778b973_2_118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g3cca778b973_2_118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ca778b973_2_14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7" name="Google Shape;197;g3cca778b973_2_140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g3cca778b973_2_140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cca778b973_2_16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4" name="Google Shape;224;g3cca778b973_2_166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g3cca778b973_2_166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ca778b973_2_19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7" name="Google Shape;257;g3cca778b973_2_198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g3cca778b973_2_198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cca778b973_2_2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1" name="Google Shape;271;g3cca778b973_2_211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g3cca778b973_2_211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cca778b973_2_2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5" name="Google Shape;285;g3cca778b973_2_224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g3cca778b973_2_224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253680">
              <a:alpha val="40000"/>
            </a:srgbClr>
          </a:solidFill>
          <a:ln cap="flat" cmpd="sng" w="12700">
            <a:solidFill>
              <a:srgbClr val="2536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5"/>
          <p:cNvSpPr/>
          <p:nvPr/>
        </p:nvSpPr>
        <p:spPr>
          <a:xfrm>
            <a:off x="6858000" y="2286000"/>
            <a:ext cx="3657600" cy="3657600"/>
          </a:xfrm>
          <a:prstGeom prst="ellipse">
            <a:avLst/>
          </a:prstGeom>
          <a:solidFill>
            <a:srgbClr val="152050">
              <a:alpha val="60000"/>
            </a:srgbClr>
          </a:solidFill>
          <a:ln cap="flat" cmpd="sng" w="12700">
            <a:solidFill>
              <a:srgbClr val="152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5"/>
          <p:cNvSpPr/>
          <p:nvPr/>
        </p:nvSpPr>
        <p:spPr>
          <a:xfrm>
            <a:off x="548640" y="1188720"/>
            <a:ext cx="2560320" cy="32004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/>
          <p:nvPr/>
        </p:nvSpPr>
        <p:spPr>
          <a:xfrm>
            <a:off x="548640" y="118872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INTEGER PROGRAMMING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548640" y="1645920"/>
            <a:ext cx="685800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b="1" lang="en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Tuition Centre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b="1" lang="en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Student-Tutor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b="1" lang="en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Assignment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b="1" lang="en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Optimisation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5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HTX xData Technical Assessment  |  Tan Lu Yan |  4</a:t>
            </a:r>
            <a:r>
              <a:rPr baseline="30000" lang="en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March 2026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6"/>
          <p:cNvSpPr/>
          <p:nvPr/>
        </p:nvSpPr>
        <p:spPr>
          <a:xfrm>
            <a:off x="274320" y="201168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800"/>
              <a:buFont typeface="Calibri"/>
              <a:buNone/>
            </a:pPr>
            <a:r>
              <a:rPr b="1" lang="en" sz="28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Problem Overview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6"/>
          <p:cNvSpPr/>
          <p:nvPr/>
        </p:nvSpPr>
        <p:spPr>
          <a:xfrm>
            <a:off x="274320" y="77724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300"/>
              <a:buFont typeface="Calibri"/>
              <a:buNone/>
            </a:pPr>
            <a:r>
              <a:rPr i="1" lang="en" sz="13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What are we solving?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6"/>
          <p:cNvSpPr/>
          <p:nvPr/>
        </p:nvSpPr>
        <p:spPr>
          <a:xfrm>
            <a:off x="274320" y="1078992"/>
            <a:ext cx="8595360" cy="22860"/>
          </a:xfrm>
          <a:prstGeom prst="rect">
            <a:avLst/>
          </a:prstGeom>
          <a:solidFill>
            <a:srgbClr val="CADCFC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6"/>
          <p:cNvSpPr/>
          <p:nvPr/>
        </p:nvSpPr>
        <p:spPr>
          <a:xfrm>
            <a:off x="274320" y="1234440"/>
            <a:ext cx="4023360" cy="3520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274320" y="1234440"/>
            <a:ext cx="73152" cy="352044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502920" y="13258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Background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/>
          <p:nvPr/>
        </p:nvSpPr>
        <p:spPr>
          <a:xfrm>
            <a:off x="502920" y="1691640"/>
            <a:ext cx="3566160" cy="2834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A tutoring organisation admits a new batch of students every month. Each new student must be assigned to a tutor and attends a chosen tuition centre.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Tutors can teach at any centre and have indicated their top 2 preferred centres. The organisation must assign tutors to students while meeting specific operational requirements.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4480560" y="1234440"/>
            <a:ext cx="4389120" cy="3520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4480560" y="1234440"/>
            <a:ext cx="73152" cy="352044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4709160" y="132588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Assignment Requirements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4709160" y="1783080"/>
            <a:ext cx="365760" cy="347472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4709160" y="1783080"/>
            <a:ext cx="365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5166360" y="1801368"/>
            <a:ext cx="3383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Each student assigned to exactly one tutor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4709160" y="2468880"/>
            <a:ext cx="365760" cy="347472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4709160" y="2468880"/>
            <a:ext cx="365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5166360" y="2487168"/>
            <a:ext cx="3383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Extensive students → extensive tutors only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6"/>
          <p:cNvSpPr/>
          <p:nvPr/>
        </p:nvSpPr>
        <p:spPr>
          <a:xfrm>
            <a:off x="4709160" y="3154680"/>
            <a:ext cx="365760" cy="347472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4709160" y="3154680"/>
            <a:ext cx="365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R3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5166360" y="3172968"/>
            <a:ext cx="3703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Total students assigned ≤ tutor's max overall capacity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6"/>
          <p:cNvSpPr/>
          <p:nvPr/>
        </p:nvSpPr>
        <p:spPr>
          <a:xfrm>
            <a:off x="4709160" y="3840480"/>
            <a:ext cx="365760" cy="347472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4709160" y="3840480"/>
            <a:ext cx="365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5166360" y="3858768"/>
            <a:ext cx="3383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Maximise tutor centre preference where possible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274320" y="201168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800"/>
              <a:buFont typeface="Calibri"/>
              <a:buNone/>
            </a:pPr>
            <a:r>
              <a:rPr b="1" lang="en" sz="28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Decision Variables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274320" y="77724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300"/>
              <a:buFont typeface="Calibri"/>
              <a:buNone/>
            </a:pPr>
            <a:r>
              <a:rPr i="1" lang="en" sz="13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Binary variables that define the assignment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274320" y="1078992"/>
            <a:ext cx="8595360" cy="22860"/>
          </a:xfrm>
          <a:prstGeom prst="rect">
            <a:avLst/>
          </a:prstGeom>
          <a:solidFill>
            <a:srgbClr val="CADCFC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7"/>
          <p:cNvSpPr/>
          <p:nvPr/>
        </p:nvSpPr>
        <p:spPr>
          <a:xfrm>
            <a:off x="274320" y="1234440"/>
            <a:ext cx="4023360" cy="3520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7"/>
          <p:cNvSpPr/>
          <p:nvPr/>
        </p:nvSpPr>
        <p:spPr>
          <a:xfrm>
            <a:off x="274320" y="1234440"/>
            <a:ext cx="73152" cy="352044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7"/>
          <p:cNvSpPr/>
          <p:nvPr/>
        </p:nvSpPr>
        <p:spPr>
          <a:xfrm>
            <a:off x="502920" y="1371600"/>
            <a:ext cx="914400" cy="45720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7"/>
          <p:cNvSpPr/>
          <p:nvPr/>
        </p:nvSpPr>
        <p:spPr>
          <a:xfrm>
            <a:off x="502920" y="137160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lang="en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b="1" lang="en"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[s,t]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7"/>
          <p:cNvSpPr/>
          <p:nvPr/>
        </p:nvSpPr>
        <p:spPr>
          <a:xfrm>
            <a:off x="1508760" y="141732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Assignment Variable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7"/>
          <p:cNvSpPr/>
          <p:nvPr/>
        </p:nvSpPr>
        <p:spPr>
          <a:xfrm>
            <a:off x="502920" y="1965960"/>
            <a:ext cx="356616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Binary variable: 1 if student s is assigned to tutor t, 0 otherwise.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One variable is created for each eligible (student, tutor) pair.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Eligible pairs: </a:t>
            </a: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Normal students → any tutor. Extensive students → extensive tutors only.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7"/>
          <p:cNvSpPr/>
          <p:nvPr/>
        </p:nvSpPr>
        <p:spPr>
          <a:xfrm>
            <a:off x="4480560" y="1234440"/>
            <a:ext cx="4389120" cy="3520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7"/>
          <p:cNvSpPr/>
          <p:nvPr/>
        </p:nvSpPr>
        <p:spPr>
          <a:xfrm>
            <a:off x="4480560" y="1234440"/>
            <a:ext cx="73152" cy="352044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7"/>
          <p:cNvSpPr/>
          <p:nvPr/>
        </p:nvSpPr>
        <p:spPr>
          <a:xfrm>
            <a:off x="4709160" y="1371600"/>
            <a:ext cx="731520" cy="4572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4709160" y="1371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lang="en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r>
              <a:rPr b="1" lang="en"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[t]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5532120" y="141732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Tutor Usage Variable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7"/>
          <p:cNvSpPr/>
          <p:nvPr/>
        </p:nvSpPr>
        <p:spPr>
          <a:xfrm>
            <a:off x="4709160" y="1965960"/>
            <a:ext cx="393192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Binary variable: 1 if tutor t receives at least one new student, 0 otherwise.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Used in Scenario (a) to count and minimise the total number of tutors used.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Linked to X[s,t] via constraints C3 — Y[t] = 1 if and only if any X[s,t] = 1.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8"/>
          <p:cNvSpPr/>
          <p:nvPr/>
        </p:nvSpPr>
        <p:spPr>
          <a:xfrm>
            <a:off x="274320" y="201168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800"/>
              <a:buFont typeface="Calibri"/>
              <a:buNone/>
            </a:pPr>
            <a:r>
              <a:rPr b="1" lang="en" sz="28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Model Constraints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8"/>
          <p:cNvSpPr/>
          <p:nvPr/>
        </p:nvSpPr>
        <p:spPr>
          <a:xfrm>
            <a:off x="274320" y="77724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300"/>
              <a:buFont typeface="Calibri"/>
              <a:buNone/>
            </a:pPr>
            <a:r>
              <a:rPr i="1" lang="en" sz="13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Constraints shared across both scenarios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8"/>
          <p:cNvSpPr/>
          <p:nvPr/>
        </p:nvSpPr>
        <p:spPr>
          <a:xfrm>
            <a:off x="274320" y="1078992"/>
            <a:ext cx="8595360" cy="22860"/>
          </a:xfrm>
          <a:prstGeom prst="rect">
            <a:avLst/>
          </a:prstGeom>
          <a:solidFill>
            <a:srgbClr val="CADCFC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8"/>
          <p:cNvSpPr/>
          <p:nvPr/>
        </p:nvSpPr>
        <p:spPr>
          <a:xfrm>
            <a:off x="274320" y="1234440"/>
            <a:ext cx="8595360" cy="1097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8"/>
          <p:cNvSpPr/>
          <p:nvPr/>
        </p:nvSpPr>
        <p:spPr>
          <a:xfrm>
            <a:off x="274320" y="1234440"/>
            <a:ext cx="73152" cy="109728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8"/>
          <p:cNvSpPr/>
          <p:nvPr/>
        </p:nvSpPr>
        <p:spPr>
          <a:xfrm>
            <a:off x="502920" y="1325880"/>
            <a:ext cx="502920" cy="50292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8"/>
          <p:cNvSpPr/>
          <p:nvPr/>
        </p:nvSpPr>
        <p:spPr>
          <a:xfrm>
            <a:off x="502920" y="13258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8"/>
          <p:cNvSpPr/>
          <p:nvPr/>
        </p:nvSpPr>
        <p:spPr>
          <a:xfrm>
            <a:off x="109728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4A90D9"/>
                </a:solidFill>
                <a:latin typeface="Calibri"/>
                <a:ea typeface="Calibri"/>
                <a:cs typeface="Calibri"/>
                <a:sym typeface="Calibri"/>
              </a:rPr>
              <a:t>Assignment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8"/>
          <p:cNvSpPr/>
          <p:nvPr/>
        </p:nvSpPr>
        <p:spPr>
          <a:xfrm>
            <a:off x="1097280" y="1618488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Consolas"/>
              <a:buNone/>
            </a:pPr>
            <a:r>
              <a:rPr i="1" lang="en" sz="1100">
                <a:solidFill>
                  <a:srgbClr val="1A2340"/>
                </a:solidFill>
                <a:latin typeface="Consolas"/>
                <a:ea typeface="Consolas"/>
                <a:cs typeface="Consolas"/>
                <a:sym typeface="Consolas"/>
              </a:rPr>
              <a:t>Σ X[s,t]  =  1   ∀s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8"/>
          <p:cNvSpPr/>
          <p:nvPr/>
        </p:nvSpPr>
        <p:spPr>
          <a:xfrm>
            <a:off x="5303520" y="1325880"/>
            <a:ext cx="3383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Every new student must be assigned to exactly one tutor. This ensures no student is left unassigned and no student is double-assigned.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8"/>
          <p:cNvSpPr/>
          <p:nvPr/>
        </p:nvSpPr>
        <p:spPr>
          <a:xfrm>
            <a:off x="274320" y="2468880"/>
            <a:ext cx="8595360" cy="1097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8"/>
          <p:cNvSpPr/>
          <p:nvPr/>
        </p:nvSpPr>
        <p:spPr>
          <a:xfrm>
            <a:off x="274320" y="2468880"/>
            <a:ext cx="73152" cy="109728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502920" y="2560320"/>
            <a:ext cx="502920" cy="50292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502920" y="256032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1097280" y="25603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Capacity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1097280" y="2852928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rgbClr val="1A2340"/>
                </a:solidFill>
                <a:latin typeface="Consolas"/>
                <a:ea typeface="Consolas"/>
                <a:cs typeface="Consolas"/>
                <a:sym typeface="Consolas"/>
              </a:rPr>
              <a:t>existing[t] + Σ X[s,t]  ≤  cap[t]   ∀t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5303520" y="2560320"/>
            <a:ext cx="3383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The sum of existing active students and newly assigned students cannot exceed the tutor's maximum overall capacity.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274320" y="3703320"/>
            <a:ext cx="8595360" cy="1097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8"/>
          <p:cNvSpPr/>
          <p:nvPr/>
        </p:nvSpPr>
        <p:spPr>
          <a:xfrm>
            <a:off x="274320" y="3703320"/>
            <a:ext cx="73152" cy="1097280"/>
          </a:xfrm>
          <a:prstGeom prst="rect">
            <a:avLst/>
          </a:prstGeom>
          <a:solidFill>
            <a:srgbClr val="2E86AB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8"/>
          <p:cNvSpPr/>
          <p:nvPr/>
        </p:nvSpPr>
        <p:spPr>
          <a:xfrm>
            <a:off x="502920" y="3794760"/>
            <a:ext cx="502920" cy="502920"/>
          </a:xfrm>
          <a:prstGeom prst="rect">
            <a:avLst/>
          </a:prstGeom>
          <a:solidFill>
            <a:srgbClr val="2E86AB"/>
          </a:solidFill>
          <a:ln cap="flat" cmpd="sng" w="12700">
            <a:solidFill>
              <a:srgbClr val="2E86A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8"/>
          <p:cNvSpPr/>
          <p:nvPr/>
        </p:nvSpPr>
        <p:spPr>
          <a:xfrm>
            <a:off x="502920" y="379476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8"/>
          <p:cNvSpPr/>
          <p:nvPr/>
        </p:nvSpPr>
        <p:spPr>
          <a:xfrm>
            <a:off x="1097280" y="379476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86AB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2E86AB"/>
                </a:solidFill>
                <a:latin typeface="Calibri"/>
                <a:ea typeface="Calibri"/>
                <a:cs typeface="Calibri"/>
                <a:sym typeface="Calibri"/>
              </a:rPr>
              <a:t>Linking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8"/>
          <p:cNvSpPr/>
          <p:nvPr/>
        </p:nvSpPr>
        <p:spPr>
          <a:xfrm>
            <a:off x="1097280" y="4087368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rgbClr val="1A2340"/>
                </a:solidFill>
                <a:latin typeface="Consolas"/>
                <a:ea typeface="Consolas"/>
                <a:cs typeface="Consolas"/>
                <a:sym typeface="Consolas"/>
              </a:rPr>
              <a:t>Σ X[s,t]  ≤  M·Y[t]   and   Σ X[s,t]  ≥ Y[t]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8"/>
          <p:cNvSpPr/>
          <p:nvPr/>
        </p:nvSpPr>
        <p:spPr>
          <a:xfrm>
            <a:off x="5303520" y="3794760"/>
            <a:ext cx="3383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Links X[s,t] to Y[t]. Y[t] = 1 if and only if tutor t receives at least one new student. M is a big-M constant (= number of new students).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9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9"/>
          <p:cNvSpPr/>
          <p:nvPr/>
        </p:nvSpPr>
        <p:spPr>
          <a:xfrm>
            <a:off x="274320" y="201168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800"/>
              <a:buFont typeface="Calibri"/>
              <a:buNone/>
            </a:pPr>
            <a:r>
              <a:rPr b="1" lang="en" sz="28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Assumptions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9"/>
          <p:cNvSpPr/>
          <p:nvPr/>
        </p:nvSpPr>
        <p:spPr>
          <a:xfrm>
            <a:off x="274320" y="77724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300"/>
              <a:buFont typeface="Calibri"/>
              <a:buNone/>
            </a:pPr>
            <a:r>
              <a:rPr i="1" lang="en" sz="13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Modelling decisions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9"/>
          <p:cNvSpPr/>
          <p:nvPr/>
        </p:nvSpPr>
        <p:spPr>
          <a:xfrm>
            <a:off x="274320" y="1078992"/>
            <a:ext cx="8595360" cy="22860"/>
          </a:xfrm>
          <a:prstGeom prst="rect">
            <a:avLst/>
          </a:prstGeom>
          <a:solidFill>
            <a:srgbClr val="CADCFC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9"/>
          <p:cNvSpPr/>
          <p:nvPr/>
        </p:nvSpPr>
        <p:spPr>
          <a:xfrm>
            <a:off x="274320" y="1280160"/>
            <a:ext cx="4206240" cy="1097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9"/>
          <p:cNvSpPr/>
          <p:nvPr/>
        </p:nvSpPr>
        <p:spPr>
          <a:xfrm>
            <a:off x="274320" y="1280160"/>
            <a:ext cx="73152" cy="109728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9"/>
          <p:cNvSpPr/>
          <p:nvPr/>
        </p:nvSpPr>
        <p:spPr>
          <a:xfrm>
            <a:off x="502920" y="1371600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Active Students Only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9"/>
          <p:cNvSpPr/>
          <p:nvPr/>
        </p:nvSpPr>
        <p:spPr>
          <a:xfrm>
            <a:off x="502920" y="1682496"/>
            <a:ext cx="39319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050"/>
              <a:buFont typeface="Calibri"/>
              <a:buNone/>
            </a:pPr>
            <a:r>
              <a:rPr lang="en" sz="105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Only active existing students count towards a tutor's load. Inactive historical records are excluded from capacity calculations.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9"/>
          <p:cNvSpPr/>
          <p:nvPr/>
        </p:nvSpPr>
        <p:spPr>
          <a:xfrm>
            <a:off x="274320" y="2514600"/>
            <a:ext cx="4206240" cy="1097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9"/>
          <p:cNvSpPr/>
          <p:nvPr/>
        </p:nvSpPr>
        <p:spPr>
          <a:xfrm>
            <a:off x="274320" y="2514600"/>
            <a:ext cx="73152" cy="109728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9"/>
          <p:cNvSpPr/>
          <p:nvPr/>
        </p:nvSpPr>
        <p:spPr>
          <a:xfrm>
            <a:off x="502920" y="2606040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Preference Scoring (2/1/0)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9"/>
          <p:cNvSpPr/>
          <p:nvPr/>
        </p:nvSpPr>
        <p:spPr>
          <a:xfrm>
            <a:off x="502920" y="2916936"/>
            <a:ext cx="39319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050"/>
              <a:buFont typeface="Calibri"/>
              <a:buNone/>
            </a:pPr>
            <a:r>
              <a:rPr lang="en" sz="105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Pref1 = 2, Pref2 = 1, No match = 0. Weighted 2/1 to better reflect preference strength and avoid freely substituting first-choice with second-choice.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9"/>
          <p:cNvSpPr/>
          <p:nvPr/>
        </p:nvSpPr>
        <p:spPr>
          <a:xfrm>
            <a:off x="274320" y="3749040"/>
            <a:ext cx="4206240" cy="1097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9"/>
          <p:cNvSpPr/>
          <p:nvPr/>
        </p:nvSpPr>
        <p:spPr>
          <a:xfrm>
            <a:off x="274320" y="3749040"/>
            <a:ext cx="73152" cy="109728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9"/>
          <p:cNvSpPr/>
          <p:nvPr/>
        </p:nvSpPr>
        <p:spPr>
          <a:xfrm>
            <a:off x="502920" y="3840480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Lexicographic Optimisation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502920" y="4151376"/>
            <a:ext cx="39319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050"/>
              <a:buFont typeface="Calibri"/>
              <a:buNone/>
            </a:pPr>
            <a:r>
              <a:rPr lang="en" sz="105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Primary objective is solved first and fixed before optimising secondary. This ensures primary goals are never sacrificed for secondary gains.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9"/>
          <p:cNvSpPr/>
          <p:nvPr/>
        </p:nvSpPr>
        <p:spPr>
          <a:xfrm>
            <a:off x="4663440" y="1280160"/>
            <a:ext cx="4206240" cy="1097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9"/>
          <p:cNvSpPr/>
          <p:nvPr/>
        </p:nvSpPr>
        <p:spPr>
          <a:xfrm>
            <a:off x="4663440" y="1280160"/>
            <a:ext cx="73152" cy="109728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9"/>
          <p:cNvSpPr/>
          <p:nvPr/>
        </p:nvSpPr>
        <p:spPr>
          <a:xfrm>
            <a:off x="4892040" y="1371600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No Scheduling Conflicts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9"/>
          <p:cNvSpPr/>
          <p:nvPr/>
        </p:nvSpPr>
        <p:spPr>
          <a:xfrm>
            <a:off x="4892040" y="1682496"/>
            <a:ext cx="39319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050"/>
              <a:buFont typeface="Calibri"/>
              <a:buNone/>
            </a:pPr>
            <a:r>
              <a:rPr lang="en" sz="105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Tutors are assumed to have no lesson clashes or can teach multiple students simultaneously at a given time.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9"/>
          <p:cNvSpPr/>
          <p:nvPr/>
        </p:nvSpPr>
        <p:spPr>
          <a:xfrm>
            <a:off x="4663440" y="2527613"/>
            <a:ext cx="4206240" cy="1097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9"/>
          <p:cNvSpPr/>
          <p:nvPr/>
        </p:nvSpPr>
        <p:spPr>
          <a:xfrm>
            <a:off x="4663440" y="2527613"/>
            <a:ext cx="73152" cy="109728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9"/>
          <p:cNvSpPr/>
          <p:nvPr/>
        </p:nvSpPr>
        <p:spPr>
          <a:xfrm>
            <a:off x="4892040" y="2619053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Existing students cannot be reassigned to a new tutor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/>
          <p:nvPr/>
        </p:nvSpPr>
        <p:spPr>
          <a:xfrm>
            <a:off x="4892040" y="2851522"/>
            <a:ext cx="3931920" cy="6288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050"/>
              <a:buFont typeface="Calibri"/>
              <a:buNone/>
            </a:pPr>
            <a:r>
              <a:rPr lang="en" sz="105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Tutors follow their own personalized curriculum tailored to their current students, so reassigning an existing student would disrupt their learning continuity and force them to adapt to a new teaching style and pace.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0"/>
          <p:cNvSpPr/>
          <p:nvPr/>
        </p:nvSpPr>
        <p:spPr>
          <a:xfrm>
            <a:off x="274320" y="201168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800"/>
              <a:buFont typeface="Calibri"/>
              <a:buNone/>
            </a:pPr>
            <a:r>
              <a:rPr b="1" lang="en" sz="28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Scenario (a) — Minimise Tutors, then Maximise Preference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0"/>
          <p:cNvSpPr/>
          <p:nvPr/>
        </p:nvSpPr>
        <p:spPr>
          <a:xfrm>
            <a:off x="274320" y="77724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300"/>
              <a:buFont typeface="Calibri"/>
              <a:buNone/>
            </a:pPr>
            <a:r>
              <a:rPr i="1" lang="en" sz="13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Two-stage lexicographic approach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0"/>
          <p:cNvSpPr/>
          <p:nvPr/>
        </p:nvSpPr>
        <p:spPr>
          <a:xfrm>
            <a:off x="274320" y="1078992"/>
            <a:ext cx="8595360" cy="22860"/>
          </a:xfrm>
          <a:prstGeom prst="rect">
            <a:avLst/>
          </a:prstGeom>
          <a:solidFill>
            <a:srgbClr val="CADCFC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0"/>
          <p:cNvSpPr/>
          <p:nvPr/>
        </p:nvSpPr>
        <p:spPr>
          <a:xfrm>
            <a:off x="274320" y="1234440"/>
            <a:ext cx="4023360" cy="3520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0"/>
          <p:cNvSpPr/>
          <p:nvPr/>
        </p:nvSpPr>
        <p:spPr>
          <a:xfrm>
            <a:off x="274320" y="1234440"/>
            <a:ext cx="73152" cy="352044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0"/>
          <p:cNvSpPr/>
          <p:nvPr/>
        </p:nvSpPr>
        <p:spPr>
          <a:xfrm>
            <a:off x="502920" y="1371600"/>
            <a:ext cx="1097280" cy="36576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0"/>
          <p:cNvSpPr/>
          <p:nvPr/>
        </p:nvSpPr>
        <p:spPr>
          <a:xfrm>
            <a:off x="502920" y="137160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STAGE 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0"/>
          <p:cNvSpPr/>
          <p:nvPr/>
        </p:nvSpPr>
        <p:spPr>
          <a:xfrm>
            <a:off x="1691640" y="1389888"/>
            <a:ext cx="23774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Minimise Tutors Used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0"/>
          <p:cNvSpPr/>
          <p:nvPr/>
        </p:nvSpPr>
        <p:spPr>
          <a:xfrm>
            <a:off x="502920" y="1874520"/>
            <a:ext cx="3566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1800"/>
              <a:buFont typeface="Consolas"/>
              <a:buNone/>
            </a:pPr>
            <a:r>
              <a:rPr b="1" lang="en" sz="1800">
                <a:solidFill>
                  <a:srgbClr val="4A90D9"/>
                </a:solidFill>
                <a:latin typeface="Consolas"/>
                <a:ea typeface="Consolas"/>
                <a:cs typeface="Consolas"/>
                <a:sym typeface="Consolas"/>
              </a:rPr>
              <a:t>min  Σ Y[t]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0"/>
          <p:cNvSpPr/>
          <p:nvPr/>
        </p:nvSpPr>
        <p:spPr>
          <a:xfrm>
            <a:off x="502920" y="2423160"/>
            <a:ext cx="356616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Finds the minimum number of tutors K* needed to accommodate all 20 new students within capacity constraints.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Why should this be prioritized first?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Reducing active tutors lowers operational costs and administrative overhead for the tuition centre.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0"/>
          <p:cNvSpPr/>
          <p:nvPr/>
        </p:nvSpPr>
        <p:spPr>
          <a:xfrm>
            <a:off x="4480560" y="1234440"/>
            <a:ext cx="4389120" cy="3520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0"/>
          <p:cNvSpPr/>
          <p:nvPr/>
        </p:nvSpPr>
        <p:spPr>
          <a:xfrm>
            <a:off x="4480560" y="1234440"/>
            <a:ext cx="73152" cy="352044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0"/>
          <p:cNvSpPr/>
          <p:nvPr/>
        </p:nvSpPr>
        <p:spPr>
          <a:xfrm>
            <a:off x="4709160" y="1371600"/>
            <a:ext cx="1097280" cy="36576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0"/>
          <p:cNvSpPr/>
          <p:nvPr/>
        </p:nvSpPr>
        <p:spPr>
          <a:xfrm>
            <a:off x="4709160" y="137160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STAGE 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0"/>
          <p:cNvSpPr/>
          <p:nvPr/>
        </p:nvSpPr>
        <p:spPr>
          <a:xfrm>
            <a:off x="5897880" y="1389888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Maximise Preference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0"/>
          <p:cNvSpPr/>
          <p:nvPr/>
        </p:nvSpPr>
        <p:spPr>
          <a:xfrm>
            <a:off x="4709160" y="1874520"/>
            <a:ext cx="3931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onsolas"/>
              <a:buNone/>
            </a:pPr>
            <a:r>
              <a:rPr b="1" lang="en" sz="1400">
                <a:solidFill>
                  <a:srgbClr val="1E2761"/>
                </a:solidFill>
                <a:latin typeface="Consolas"/>
                <a:ea typeface="Consolas"/>
                <a:cs typeface="Consolas"/>
                <a:sym typeface="Consolas"/>
              </a:rPr>
              <a:t>max  Σ score[s,t] · X[s,t]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onsolas"/>
              <a:buNone/>
            </a:pPr>
            <a:r>
              <a:rPr b="1" lang="en" sz="1400">
                <a:solidFill>
                  <a:srgbClr val="1E2761"/>
                </a:solidFill>
                <a:latin typeface="Consolas"/>
                <a:ea typeface="Consolas"/>
                <a:cs typeface="Consolas"/>
                <a:sym typeface="Consolas"/>
              </a:rPr>
              <a:t>s.t.  Σ Y[t] = K*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0"/>
          <p:cNvSpPr/>
          <p:nvPr/>
        </p:nvSpPr>
        <p:spPr>
          <a:xfrm>
            <a:off x="4709160" y="2788920"/>
            <a:ext cx="39319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With K* fixed, maximises the total preference score.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Scoring: </a:t>
            </a:r>
            <a:r>
              <a:rPr lang="en" sz="12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Pref1 match = 2,  Pref2 match = 1,  No match = 0.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1"/>
          <p:cNvSpPr/>
          <p:nvPr/>
        </p:nvSpPr>
        <p:spPr>
          <a:xfrm>
            <a:off x="274320" y="201168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800"/>
              <a:buFont typeface="Calibri"/>
              <a:buNone/>
            </a:pPr>
            <a:r>
              <a:rPr b="1" lang="en" sz="28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Scenario (b) — Balance Workload, then Maximise Preference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1"/>
          <p:cNvSpPr/>
          <p:nvPr/>
        </p:nvSpPr>
        <p:spPr>
          <a:xfrm>
            <a:off x="274320" y="77724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300"/>
              <a:buFont typeface="Calibri"/>
              <a:buNone/>
            </a:pPr>
            <a:r>
              <a:rPr i="1" lang="en" sz="13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Two-stage lexicographic approach with pre-processing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1"/>
          <p:cNvSpPr/>
          <p:nvPr/>
        </p:nvSpPr>
        <p:spPr>
          <a:xfrm>
            <a:off x="274320" y="1078992"/>
            <a:ext cx="8595360" cy="22860"/>
          </a:xfrm>
          <a:prstGeom prst="rect">
            <a:avLst/>
          </a:prstGeom>
          <a:solidFill>
            <a:srgbClr val="CADCFC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1"/>
          <p:cNvSpPr/>
          <p:nvPr/>
        </p:nvSpPr>
        <p:spPr>
          <a:xfrm>
            <a:off x="274320" y="1234440"/>
            <a:ext cx="8595360" cy="1005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1"/>
          <p:cNvSpPr/>
          <p:nvPr/>
        </p:nvSpPr>
        <p:spPr>
          <a:xfrm>
            <a:off x="274320" y="1234440"/>
            <a:ext cx="73152" cy="1005840"/>
          </a:xfrm>
          <a:prstGeom prst="rect">
            <a:avLst/>
          </a:prstGeom>
          <a:solidFill>
            <a:srgbClr val="E67E22"/>
          </a:solidFill>
          <a:ln cap="flat" cmpd="sng" w="12700">
            <a:solidFill>
              <a:srgbClr val="E67E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1"/>
          <p:cNvSpPr/>
          <p:nvPr/>
        </p:nvSpPr>
        <p:spPr>
          <a:xfrm>
            <a:off x="502920" y="1298448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E22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Pre-processing — Iterative Mean Computation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1"/>
          <p:cNvSpPr/>
          <p:nvPr/>
        </p:nvSpPr>
        <p:spPr>
          <a:xfrm>
            <a:off x="502920" y="157276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Compute mean load → identify saturated tutors (existing load ≥ mean) → exclude &amp; recompute → repeat until stable.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Result: A005, A007 marked saturated (receive no new students). Available tutors: A001–A004, A006, A008–A010. Converged mean = 2.88.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1"/>
          <p:cNvSpPr/>
          <p:nvPr/>
        </p:nvSpPr>
        <p:spPr>
          <a:xfrm>
            <a:off x="274320" y="2377440"/>
            <a:ext cx="4023360" cy="24231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1"/>
          <p:cNvSpPr/>
          <p:nvPr/>
        </p:nvSpPr>
        <p:spPr>
          <a:xfrm>
            <a:off x="274320" y="2377440"/>
            <a:ext cx="73152" cy="242316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1"/>
          <p:cNvSpPr/>
          <p:nvPr/>
        </p:nvSpPr>
        <p:spPr>
          <a:xfrm>
            <a:off x="502920" y="2487168"/>
            <a:ext cx="1097280" cy="347472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/>
          <p:nvPr/>
        </p:nvSpPr>
        <p:spPr>
          <a:xfrm>
            <a:off x="502920" y="2487168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STAGE 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1"/>
          <p:cNvSpPr/>
          <p:nvPr/>
        </p:nvSpPr>
        <p:spPr>
          <a:xfrm>
            <a:off x="1691640" y="2505456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Minimise Max Total Load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1"/>
          <p:cNvSpPr/>
          <p:nvPr/>
        </p:nvSpPr>
        <p:spPr>
          <a:xfrm>
            <a:off x="502920" y="2907792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1200"/>
              <a:buFont typeface="Consolas"/>
              <a:buNone/>
            </a:pPr>
            <a:r>
              <a:rPr lang="en" sz="1200">
                <a:solidFill>
                  <a:srgbClr val="4A90D9"/>
                </a:solidFill>
                <a:latin typeface="Consolas"/>
                <a:ea typeface="Consolas"/>
                <a:cs typeface="Consolas"/>
                <a:sym typeface="Consolas"/>
              </a:rPr>
              <a:t>min  L_max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1200"/>
              <a:buFont typeface="Consolas"/>
              <a:buNone/>
            </a:pPr>
            <a:r>
              <a:rPr lang="en" sz="1200">
                <a:solidFill>
                  <a:srgbClr val="4A90D9"/>
                </a:solidFill>
                <a:latin typeface="Consolas"/>
                <a:ea typeface="Consolas"/>
                <a:cs typeface="Consolas"/>
                <a:sym typeface="Consolas"/>
              </a:rPr>
              <a:t>s.t.  existing[t] + Σ x[s,t] ≤ L_max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502920" y="3611880"/>
            <a:ext cx="35661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Pushes all active tutors toward the mean μ. Balanced workload is prioritized as it prevents tutor burnout and improves retention.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4480560" y="2377440"/>
            <a:ext cx="4389120" cy="24231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4480560" y="2377440"/>
            <a:ext cx="73152" cy="242316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4709160" y="2487168"/>
            <a:ext cx="1097280" cy="347472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4709160" y="2487168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lang="en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STAGE 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/>
          <p:nvPr/>
        </p:nvSpPr>
        <p:spPr>
          <a:xfrm>
            <a:off x="5897880" y="2505456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Maximise Preference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/>
          <p:nvPr/>
        </p:nvSpPr>
        <p:spPr>
          <a:xfrm>
            <a:off x="4709160" y="2907792"/>
            <a:ext cx="3931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onsolas"/>
              <a:buNone/>
            </a:pPr>
            <a:r>
              <a:rPr lang="en" sz="1200">
                <a:solidFill>
                  <a:srgbClr val="1E2761"/>
                </a:solidFill>
                <a:latin typeface="Consolas"/>
                <a:ea typeface="Consolas"/>
                <a:cs typeface="Consolas"/>
                <a:sym typeface="Consolas"/>
              </a:rPr>
              <a:t>max  Σ score[s,t] · x[s,t]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onsolas"/>
              <a:buNone/>
            </a:pPr>
            <a:r>
              <a:rPr lang="en" sz="1200">
                <a:solidFill>
                  <a:srgbClr val="1E2761"/>
                </a:solidFill>
                <a:latin typeface="Consolas"/>
                <a:ea typeface="Consolas"/>
                <a:cs typeface="Consolas"/>
                <a:sym typeface="Consolas"/>
              </a:rPr>
              <a:t>s.t.  L_max = L_max*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1"/>
          <p:cNvSpPr/>
          <p:nvPr/>
        </p:nvSpPr>
        <p:spPr>
          <a:xfrm>
            <a:off x="4709160" y="3611880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Fixes the optimal max load L_max*, then maximises preference score — same 2/1 weighted scoring scheme as Scenario (a).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2"/>
          <p:cNvSpPr/>
          <p:nvPr/>
        </p:nvSpPr>
        <p:spPr>
          <a:xfrm>
            <a:off x="274320" y="201168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800"/>
              <a:buFont typeface="Calibri"/>
              <a:buNone/>
            </a:pPr>
            <a:r>
              <a:rPr b="1" lang="en" sz="28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Results Summary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2"/>
          <p:cNvSpPr/>
          <p:nvPr/>
        </p:nvSpPr>
        <p:spPr>
          <a:xfrm>
            <a:off x="274320" y="77724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300"/>
              <a:buFont typeface="Calibri"/>
              <a:buNone/>
            </a:pPr>
            <a:r>
              <a:rPr i="1" lang="en" sz="13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Key metrics from both scenarios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2"/>
          <p:cNvSpPr/>
          <p:nvPr/>
        </p:nvSpPr>
        <p:spPr>
          <a:xfrm>
            <a:off x="274320" y="1078992"/>
            <a:ext cx="8595360" cy="22860"/>
          </a:xfrm>
          <a:prstGeom prst="rect">
            <a:avLst/>
          </a:prstGeom>
          <a:solidFill>
            <a:srgbClr val="CADCFC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2"/>
          <p:cNvSpPr/>
          <p:nvPr/>
        </p:nvSpPr>
        <p:spPr>
          <a:xfrm>
            <a:off x="274320" y="1234440"/>
            <a:ext cx="4023360" cy="3520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2"/>
          <p:cNvSpPr/>
          <p:nvPr/>
        </p:nvSpPr>
        <p:spPr>
          <a:xfrm>
            <a:off x="274320" y="1234440"/>
            <a:ext cx="73152" cy="352044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/>
          <p:nvPr/>
        </p:nvSpPr>
        <p:spPr>
          <a:xfrm>
            <a:off x="502920" y="1325880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1500"/>
              <a:buFont typeface="Calibri"/>
              <a:buNone/>
            </a:pPr>
            <a:r>
              <a:rPr b="1" lang="en" sz="1500">
                <a:solidFill>
                  <a:srgbClr val="4A90D9"/>
                </a:solidFill>
                <a:latin typeface="Calibri"/>
                <a:ea typeface="Calibri"/>
                <a:cs typeface="Calibri"/>
                <a:sym typeface="Calibri"/>
              </a:rPr>
              <a:t>Scenario (a)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2"/>
          <p:cNvSpPr/>
          <p:nvPr/>
        </p:nvSpPr>
        <p:spPr>
          <a:xfrm>
            <a:off x="502920" y="1783080"/>
            <a:ext cx="1188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3000"/>
              <a:buFont typeface="Calibri"/>
              <a:buNone/>
            </a:pPr>
            <a:r>
              <a:rPr b="1" lang="en" sz="3000">
                <a:solidFill>
                  <a:srgbClr val="4A90D9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2"/>
          <p:cNvSpPr/>
          <p:nvPr/>
        </p:nvSpPr>
        <p:spPr>
          <a:xfrm>
            <a:off x="1783080" y="180136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Tutors Used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2"/>
          <p:cNvSpPr/>
          <p:nvPr/>
        </p:nvSpPr>
        <p:spPr>
          <a:xfrm>
            <a:off x="1783080" y="2084832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(minimum possible)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2"/>
          <p:cNvSpPr/>
          <p:nvPr/>
        </p:nvSpPr>
        <p:spPr>
          <a:xfrm>
            <a:off x="502920" y="2788920"/>
            <a:ext cx="1188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3000"/>
              <a:buFont typeface="Calibri"/>
              <a:buNone/>
            </a:pPr>
            <a:r>
              <a:rPr b="1" lang="en" sz="3000">
                <a:solidFill>
                  <a:srgbClr val="4A90D9"/>
                </a:solidFill>
                <a:latin typeface="Calibri"/>
                <a:ea typeface="Calibri"/>
                <a:cs typeface="Calibri"/>
                <a:sym typeface="Calibri"/>
              </a:rPr>
              <a:t>39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2"/>
          <p:cNvSpPr/>
          <p:nvPr/>
        </p:nvSpPr>
        <p:spPr>
          <a:xfrm>
            <a:off x="1783080" y="280720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Preference Score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2"/>
          <p:cNvSpPr/>
          <p:nvPr/>
        </p:nvSpPr>
        <p:spPr>
          <a:xfrm>
            <a:off x="1783080" y="3090672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(out of max 40)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2"/>
          <p:cNvSpPr/>
          <p:nvPr/>
        </p:nvSpPr>
        <p:spPr>
          <a:xfrm>
            <a:off x="502920" y="3790188"/>
            <a:ext cx="1417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3000"/>
              <a:buFont typeface="Calibri"/>
              <a:buNone/>
            </a:pPr>
            <a:r>
              <a:rPr b="1" lang="en" sz="3000">
                <a:solidFill>
                  <a:srgbClr val="4A90D9"/>
                </a:solidFill>
                <a:latin typeface="Calibri"/>
                <a:ea typeface="Calibri"/>
                <a:cs typeface="Calibri"/>
                <a:sym typeface="Calibri"/>
              </a:rPr>
              <a:t>19 / 20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2"/>
          <p:cNvSpPr/>
          <p:nvPr/>
        </p:nvSpPr>
        <p:spPr>
          <a:xfrm>
            <a:off x="1783080" y="381304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Pref 1 Matches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2"/>
          <p:cNvSpPr/>
          <p:nvPr/>
        </p:nvSpPr>
        <p:spPr>
          <a:xfrm>
            <a:off x="1783080" y="4096512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students at first-choice centre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2"/>
          <p:cNvSpPr/>
          <p:nvPr/>
        </p:nvSpPr>
        <p:spPr>
          <a:xfrm>
            <a:off x="4480560" y="1234440"/>
            <a:ext cx="4389120" cy="35204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2"/>
          <p:cNvSpPr/>
          <p:nvPr/>
        </p:nvSpPr>
        <p:spPr>
          <a:xfrm>
            <a:off x="4480560" y="1234440"/>
            <a:ext cx="73152" cy="352044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2"/>
          <p:cNvSpPr/>
          <p:nvPr/>
        </p:nvSpPr>
        <p:spPr>
          <a:xfrm>
            <a:off x="4709160" y="1325880"/>
            <a:ext cx="3931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500"/>
              <a:buFont typeface="Calibri"/>
              <a:buNone/>
            </a:pPr>
            <a:r>
              <a:rPr b="1" lang="en" sz="15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Scenario (b)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2"/>
          <p:cNvSpPr/>
          <p:nvPr/>
        </p:nvSpPr>
        <p:spPr>
          <a:xfrm>
            <a:off x="4709160" y="17830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libri"/>
              <a:buNone/>
            </a:pPr>
            <a:r>
              <a:rPr b="1" lang="en" sz="30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2.88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2"/>
          <p:cNvSpPr/>
          <p:nvPr/>
        </p:nvSpPr>
        <p:spPr>
          <a:xfrm>
            <a:off x="6172200" y="180136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Target Mean Load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2"/>
          <p:cNvSpPr/>
          <p:nvPr/>
        </p:nvSpPr>
        <p:spPr>
          <a:xfrm>
            <a:off x="6172200" y="2084832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(converged)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2"/>
          <p:cNvSpPr/>
          <p:nvPr/>
        </p:nvSpPr>
        <p:spPr>
          <a:xfrm>
            <a:off x="4709160" y="278892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libri"/>
              <a:buNone/>
            </a:pPr>
            <a:r>
              <a:rPr b="1" lang="en" sz="30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2"/>
          <p:cNvSpPr/>
          <p:nvPr/>
        </p:nvSpPr>
        <p:spPr>
          <a:xfrm>
            <a:off x="6172200" y="280720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Max Total Load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2"/>
          <p:cNvSpPr/>
          <p:nvPr/>
        </p:nvSpPr>
        <p:spPr>
          <a:xfrm>
            <a:off x="6172200" y="3090672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(optimal, ≈ mean)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4709160" y="379476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libri"/>
              <a:buNone/>
            </a:pPr>
            <a:r>
              <a:rPr b="1" lang="en" sz="30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35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2"/>
          <p:cNvSpPr/>
          <p:nvPr/>
        </p:nvSpPr>
        <p:spPr>
          <a:xfrm>
            <a:off x="6172200" y="381304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Preference Score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2"/>
          <p:cNvSpPr/>
          <p:nvPr/>
        </p:nvSpPr>
        <p:spPr>
          <a:xfrm>
            <a:off x="6172200" y="4096512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16 Pref 1, 3 Pref 2, 1 no match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3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3"/>
          <p:cNvSpPr/>
          <p:nvPr/>
        </p:nvSpPr>
        <p:spPr>
          <a:xfrm>
            <a:off x="274320" y="201168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800"/>
              <a:buFont typeface="Calibri"/>
              <a:buNone/>
            </a:pPr>
            <a:r>
              <a:rPr b="1" lang="en" sz="28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Post Analysis — Alternative Scenario (b)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3"/>
          <p:cNvSpPr/>
          <p:nvPr/>
        </p:nvSpPr>
        <p:spPr>
          <a:xfrm>
            <a:off x="274320" y="77724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300"/>
              <a:buFont typeface="Calibri"/>
              <a:buNone/>
            </a:pPr>
            <a:r>
              <a:rPr i="1" lang="en" sz="13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What if preference was prioritised first?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3"/>
          <p:cNvSpPr/>
          <p:nvPr/>
        </p:nvSpPr>
        <p:spPr>
          <a:xfrm>
            <a:off x="274320" y="1078992"/>
            <a:ext cx="8595360" cy="22860"/>
          </a:xfrm>
          <a:prstGeom prst="rect">
            <a:avLst/>
          </a:prstGeom>
          <a:solidFill>
            <a:srgbClr val="CADCFC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3"/>
          <p:cNvSpPr/>
          <p:nvPr/>
        </p:nvSpPr>
        <p:spPr>
          <a:xfrm>
            <a:off x="274320" y="1234440"/>
            <a:ext cx="8595360" cy="7772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3"/>
          <p:cNvSpPr/>
          <p:nvPr/>
        </p:nvSpPr>
        <p:spPr>
          <a:xfrm>
            <a:off x="274320" y="1234440"/>
            <a:ext cx="73152" cy="777240"/>
          </a:xfrm>
          <a:prstGeom prst="rect">
            <a:avLst/>
          </a:prstGeom>
          <a:solidFill>
            <a:srgbClr val="E67E22"/>
          </a:solidFill>
          <a:ln cap="flat" cmpd="sng" w="12700">
            <a:solidFill>
              <a:srgbClr val="E67E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3"/>
          <p:cNvSpPr/>
          <p:nvPr/>
        </p:nvSpPr>
        <p:spPr>
          <a:xfrm>
            <a:off x="502920" y="12984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E22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Motivation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3"/>
          <p:cNvSpPr/>
          <p:nvPr/>
        </p:nvSpPr>
        <p:spPr>
          <a:xfrm>
            <a:off x="502920" y="1572768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The problem statement does not explicitly state which objective takes priority in Scenario (b). The original formulation (prioritizing workload) results in 1 no-match assignment — raising the question: should preference be prioritized first instead?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8" name="Google Shape;26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7578" y="2286000"/>
            <a:ext cx="7448843" cy="27312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4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4"/>
          <p:cNvSpPr/>
          <p:nvPr/>
        </p:nvSpPr>
        <p:spPr>
          <a:xfrm>
            <a:off x="274320" y="201168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800"/>
              <a:buFont typeface="Calibri"/>
              <a:buNone/>
            </a:pPr>
            <a:r>
              <a:rPr b="1" lang="en" sz="28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Post Analysis — Alternative Scenario (b)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4"/>
          <p:cNvSpPr/>
          <p:nvPr/>
        </p:nvSpPr>
        <p:spPr>
          <a:xfrm>
            <a:off x="274320" y="77724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BA6"/>
              </a:buClr>
              <a:buSzPts val="1300"/>
              <a:buFont typeface="Calibri"/>
              <a:buNone/>
            </a:pPr>
            <a:r>
              <a:rPr i="1" lang="en" sz="1300">
                <a:solidFill>
                  <a:srgbClr val="7A8BA6"/>
                </a:solidFill>
                <a:latin typeface="Calibri"/>
                <a:ea typeface="Calibri"/>
                <a:cs typeface="Calibri"/>
                <a:sym typeface="Calibri"/>
              </a:rPr>
              <a:t>What if preference was prioritised first?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4"/>
          <p:cNvSpPr/>
          <p:nvPr/>
        </p:nvSpPr>
        <p:spPr>
          <a:xfrm>
            <a:off x="274320" y="1078992"/>
            <a:ext cx="8595360" cy="22860"/>
          </a:xfrm>
          <a:prstGeom prst="rect">
            <a:avLst/>
          </a:prstGeom>
          <a:solidFill>
            <a:srgbClr val="CADCFC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78" name="Google Shape;278;p24"/>
          <p:cNvGraphicFramePr/>
          <p:nvPr/>
        </p:nvGraphicFramePr>
        <p:xfrm>
          <a:off x="274320" y="127539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{AD02D0E1-9CE0-4AB2-8BCE-20EC65DF7CE0}</a:tableStyleId>
              </a:tblPr>
              <a:tblGrid>
                <a:gridCol w="2011675"/>
                <a:gridCol w="3291850"/>
                <a:gridCol w="3291850"/>
              </a:tblGrid>
              <a:tr h="465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Calibri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FFFFFF"/>
                          </a:solidFill>
                        </a:rPr>
                        <a:t>Original Scenario (b)</a:t>
                      </a:r>
                      <a:endParaRPr sz="1000" u="none" cap="none" strike="noStrike"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FFFFFF"/>
                          </a:solidFill>
                        </a:rPr>
                        <a:t>Workload First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FFFFFF"/>
                          </a:solidFill>
                        </a:rPr>
                        <a:t>Alternative Scenario (b)</a:t>
                      </a:r>
                      <a:endParaRPr sz="1000" u="none" cap="none" strike="noStrike"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FFFFFF"/>
                          </a:solidFill>
                        </a:rPr>
                        <a:t>Preference First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761"/>
                    </a:solidFill>
                  </a:tcPr>
                </a:tc>
              </a:tr>
              <a:tr h="3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1A2340"/>
                          </a:solidFill>
                        </a:rPr>
                        <a:t>Priority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1A2340"/>
                          </a:solidFill>
                        </a:rPr>
                        <a:t>Balance workload → then preference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1A2340"/>
                          </a:solidFill>
                        </a:rPr>
                        <a:t>Maximise preference → then balance workload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1A2340"/>
                          </a:solidFill>
                        </a:rPr>
                        <a:t>Preference Score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1A2340"/>
                          </a:solidFill>
                        </a:rPr>
                        <a:t>35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1A2340"/>
                          </a:solidFill>
                        </a:rPr>
                        <a:t>40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1A2340"/>
                          </a:solidFill>
                        </a:rPr>
                        <a:t>No-match Assignments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1A2340"/>
                          </a:solidFill>
                        </a:rPr>
                        <a:t>1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1A2340"/>
                          </a:solidFill>
                        </a:rPr>
                        <a:t>0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1A2340"/>
                          </a:solidFill>
                        </a:rPr>
                        <a:t>Max Load for tutor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/>
                        <a:t>5</a:t>
                      </a:r>
                      <a:endParaRPr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/>
                        <a:t>5</a:t>
                      </a:r>
                      <a:endParaRPr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1A2340"/>
                          </a:solidFill>
                        </a:rPr>
                        <a:t>Min Load for tutor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1A2340"/>
                          </a:solidFill>
                        </a:rPr>
                        <a:t>2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1A2340"/>
                          </a:solidFill>
                        </a:rPr>
                        <a:t>0 (assigned nothing)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1A2340"/>
                          </a:solidFill>
                        </a:rPr>
                        <a:t>Verdict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1A2340"/>
                          </a:solidFill>
                        </a:rPr>
                        <a:t>✓ Recommended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340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1A2340"/>
                          </a:solidFill>
                        </a:rPr>
                        <a:t>✗ Not recommended</a:t>
                      </a:r>
                      <a:endParaRPr sz="1000" u="none" cap="none" strike="noStrike"/>
                    </a:p>
                  </a:txBody>
                  <a:tcPr marT="50800" marB="50800" marR="76200" marL="76200" anchor="ctr">
                    <a:lnL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0DC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9" name="Google Shape;279;p24"/>
          <p:cNvSpPr/>
          <p:nvPr/>
        </p:nvSpPr>
        <p:spPr>
          <a:xfrm>
            <a:off x="274320" y="4064508"/>
            <a:ext cx="8595360" cy="7772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4"/>
          <p:cNvSpPr/>
          <p:nvPr/>
        </p:nvSpPr>
        <p:spPr>
          <a:xfrm>
            <a:off x="274320" y="4064508"/>
            <a:ext cx="73152" cy="777240"/>
          </a:xfrm>
          <a:prstGeom prst="rect">
            <a:avLst/>
          </a:prstGeom>
          <a:solidFill>
            <a:srgbClr val="E67E22"/>
          </a:solidFill>
          <a:ln cap="flat" cmpd="sng" w="12700">
            <a:solidFill>
              <a:srgbClr val="E67E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4"/>
          <p:cNvSpPr/>
          <p:nvPr/>
        </p:nvSpPr>
        <p:spPr>
          <a:xfrm>
            <a:off x="502920" y="412851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7E22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E67E22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4"/>
          <p:cNvSpPr/>
          <p:nvPr/>
        </p:nvSpPr>
        <p:spPr>
          <a:xfrm>
            <a:off x="502920" y="4402836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1A2340"/>
                </a:solidFill>
                <a:latin typeface="Calibri"/>
                <a:ea typeface="Calibri"/>
                <a:cs typeface="Calibri"/>
                <a:sym typeface="Calibri"/>
              </a:rPr>
              <a:t>The alternative method does not give a desirable outcome. Despite the preference score being maximized, the workload among tutors is now heavily imbalanced, so the alternative is not recommended.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5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253680">
              <a:alpha val="40000"/>
            </a:srgbClr>
          </a:solidFill>
          <a:ln cap="flat" cmpd="sng" w="12700">
            <a:solidFill>
              <a:srgbClr val="2536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5"/>
          <p:cNvSpPr/>
          <p:nvPr/>
        </p:nvSpPr>
        <p:spPr>
          <a:xfrm>
            <a:off x="6858000" y="2286000"/>
            <a:ext cx="3657600" cy="3657600"/>
          </a:xfrm>
          <a:prstGeom prst="ellipse">
            <a:avLst/>
          </a:prstGeom>
          <a:solidFill>
            <a:srgbClr val="152050">
              <a:alpha val="60000"/>
            </a:srgbClr>
          </a:solidFill>
          <a:ln cap="flat" cmpd="sng" w="12700">
            <a:solidFill>
              <a:srgbClr val="152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5"/>
          <p:cNvSpPr/>
          <p:nvPr/>
        </p:nvSpPr>
        <p:spPr>
          <a:xfrm>
            <a:off x="914400" y="1371600"/>
            <a:ext cx="73152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Calibri"/>
              <a:buNone/>
            </a:pPr>
            <a:r>
              <a:rPr b="1" lang="en" sz="5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sz="5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5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HTX xData Technical Assessment  |  Tan Lu Yan  |  4</a:t>
            </a:r>
            <a:r>
              <a:rPr baseline="30000" lang="en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March 2026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