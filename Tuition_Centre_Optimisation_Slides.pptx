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  <p:sldId id="266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5456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08DE7-1ED1-9371-23D2-507DAF54B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449730-76C2-CC44-2BAF-D050C51C03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0D1500-8C06-C9F5-443A-0082D32B70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20F27E-9DAF-8254-BAE0-CDABD67894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3211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253680">
              <a:alpha val="40000"/>
            </a:srgbClr>
          </a:solidFill>
          <a:ln w="12700">
            <a:solidFill>
              <a:srgbClr val="25368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152050">
              <a:alpha val="60000"/>
            </a:srgbClr>
          </a:solidFill>
          <a:ln w="12700">
            <a:solidFill>
              <a:srgbClr val="15205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560320" cy="3200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PROGRAMMING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6858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Tuition Centre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Student-Tutor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HTX xData Technical Assessment  |  Tan Lu Yan |  4</a:t>
            </a:r>
            <a:r>
              <a:rPr lang="en-US" sz="1000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March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274320" y="20116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solving?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228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73152" cy="3520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tutoring organisation admits a new batch of students every month. Each new student must be assigned to a tutor and attends a chosen tuition centre.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Tutors can teach at any centre and have indicated their top 2 preferred centres. The organisation must assign tutors to students while meeting specific operational requirements.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1234440"/>
            <a:ext cx="43891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1" name="Shape 9"/>
          <p:cNvSpPr/>
          <p:nvPr/>
        </p:nvSpPr>
        <p:spPr>
          <a:xfrm>
            <a:off x="4480560" y="1234440"/>
            <a:ext cx="73152" cy="35204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Text 10"/>
          <p:cNvSpPr/>
          <p:nvPr/>
        </p:nvSpPr>
        <p:spPr>
          <a:xfrm>
            <a:off x="4709160" y="13258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Requirements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1783080"/>
            <a:ext cx="365760" cy="34747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Text 12"/>
          <p:cNvSpPr/>
          <p:nvPr/>
        </p:nvSpPr>
        <p:spPr>
          <a:xfrm>
            <a:off x="4709160" y="178308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166360" y="180136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student assigned to exactly one tutor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468880"/>
            <a:ext cx="365760" cy="34747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Text 15"/>
          <p:cNvSpPr/>
          <p:nvPr/>
        </p:nvSpPr>
        <p:spPr>
          <a:xfrm>
            <a:off x="4709160" y="246888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66360" y="248716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Extensive students → extensive tutors only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3154680"/>
            <a:ext cx="365760" cy="34747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0" name="Text 18"/>
          <p:cNvSpPr/>
          <p:nvPr/>
        </p:nvSpPr>
        <p:spPr>
          <a:xfrm>
            <a:off x="4709160" y="315468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166360" y="3172968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students assigned ≤ tutor's max overall capacity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3840480"/>
            <a:ext cx="365760" cy="34747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Text 21"/>
          <p:cNvSpPr/>
          <p:nvPr/>
        </p:nvSpPr>
        <p:spPr>
          <a:xfrm>
            <a:off x="4709160" y="384048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66360" y="385876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 tutor centre preference where possible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274320" y="20116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Variables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variables that define the assignment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228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73152" cy="35204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914400" cy="4572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502920" y="1371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[s,t]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08760" y="1417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Variable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9659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variable: 1 if student s is assigned to tutor t, 0 otherwise.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variable is created for each eligible (student, tutor) pair.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pairs: </a:t>
            </a: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students → any tutor. Extensive students → extensive tutors only.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80560" y="1234440"/>
            <a:ext cx="43891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3" name="Shape 11"/>
          <p:cNvSpPr/>
          <p:nvPr/>
        </p:nvSpPr>
        <p:spPr>
          <a:xfrm>
            <a:off x="4480560" y="1234440"/>
            <a:ext cx="73152" cy="3520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Shape 12"/>
          <p:cNvSpPr/>
          <p:nvPr/>
        </p:nvSpPr>
        <p:spPr>
          <a:xfrm>
            <a:off x="4709160" y="1371600"/>
            <a:ext cx="7315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Text 13"/>
          <p:cNvSpPr/>
          <p:nvPr/>
        </p:nvSpPr>
        <p:spPr>
          <a:xfrm>
            <a:off x="4709160" y="13716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[t]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53212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Usage Variable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09160" y="196596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variable: 1 if tutor t receives at least one new student, 0 otherwise.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Scenario (a) to count and minimise the total number of tutors used.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X[s,t] via constraints C3 — Y[t] = 1 if and only if any X[s,t] = 1.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274320" y="20116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Constraints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shared across both scenarios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228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8595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73152" cy="10972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Shape 6"/>
          <p:cNvSpPr/>
          <p:nvPr/>
        </p:nvSpPr>
        <p:spPr>
          <a:xfrm>
            <a:off x="502920" y="1325880"/>
            <a:ext cx="50292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50292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325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16184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X[s,t]  =  1   ∀s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0" y="13258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student must be assigned to exactly one tutor. This ensures no student is left unassigned and no student is double-assigned.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468880"/>
            <a:ext cx="8595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73152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Shape 13"/>
          <p:cNvSpPr/>
          <p:nvPr/>
        </p:nvSpPr>
        <p:spPr>
          <a:xfrm>
            <a:off x="502920" y="2560320"/>
            <a:ext cx="502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Text 14"/>
          <p:cNvSpPr/>
          <p:nvPr/>
        </p:nvSpPr>
        <p:spPr>
          <a:xfrm>
            <a:off x="50292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28529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i="1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existing[t] + Σ X[s,t]  ≤  cap[t]   ∀t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0" y="25603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 of existing active students and newly assigned students cannot exceed the tutor's maximum overall capacity.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703320"/>
            <a:ext cx="8595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1" name="Shape 19"/>
          <p:cNvSpPr/>
          <p:nvPr/>
        </p:nvSpPr>
        <p:spPr>
          <a:xfrm>
            <a:off x="274320" y="3703320"/>
            <a:ext cx="73152" cy="10972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Shape 20"/>
          <p:cNvSpPr/>
          <p:nvPr/>
        </p:nvSpPr>
        <p:spPr>
          <a:xfrm>
            <a:off x="502920" y="3794760"/>
            <a:ext cx="502920" cy="502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Text 21"/>
          <p:cNvSpPr/>
          <p:nvPr/>
        </p:nvSpPr>
        <p:spPr>
          <a:xfrm>
            <a:off x="50292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3794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40873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i="1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X[s,t]  ≤  M·Y[t]   and   Σ X[s,t]  ≥ Y[t]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0" y="37947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X[s,t] to Y[t]. Y[t] = 1 if and only if tutor t receives at least one new student. M is a big-M constant (= number of new students).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274320" y="20116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decisions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228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73152" cy="10972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Students Only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682496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active existing students count towards a tutor's load. Inactive historical records are excluded from capacity calculations.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51460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1" name="Shape 9"/>
          <p:cNvSpPr/>
          <p:nvPr/>
        </p:nvSpPr>
        <p:spPr>
          <a:xfrm>
            <a:off x="274320" y="2514600"/>
            <a:ext cx="73152" cy="10972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Text 10"/>
          <p:cNvSpPr/>
          <p:nvPr/>
        </p:nvSpPr>
        <p:spPr>
          <a:xfrm>
            <a:off x="502920" y="26060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Scoring (2/1/0)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916936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Pref1 = 2, Pref2 = 1, No match = 0. Weighted 2/1 to better reflect preference strength and avoid freely substituting first-choice with second-choice.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74904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5" name="Shape 13"/>
          <p:cNvSpPr/>
          <p:nvPr/>
        </p:nvSpPr>
        <p:spPr>
          <a:xfrm>
            <a:off x="274320" y="3749040"/>
            <a:ext cx="73152" cy="10972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Text 14"/>
          <p:cNvSpPr/>
          <p:nvPr/>
        </p:nvSpPr>
        <p:spPr>
          <a:xfrm>
            <a:off x="502920" y="38404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Lexicographic Optimisation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4151376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 is solved first and fixed before optimising secondary. This ensures primary goals are never sacrificed for secondary gains.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128016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9" name="Shape 17"/>
          <p:cNvSpPr/>
          <p:nvPr/>
        </p:nvSpPr>
        <p:spPr>
          <a:xfrm>
            <a:off x="4663440" y="1280160"/>
            <a:ext cx="73152" cy="10972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0" name="Text 18"/>
          <p:cNvSpPr/>
          <p:nvPr/>
        </p:nvSpPr>
        <p:spPr>
          <a:xfrm>
            <a:off x="4892040" y="13716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Scheduling Conflicts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1682496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Tutors are assumed to have no lesson clashes or can teach multiple students simultaneously at a given time.</a:t>
            </a:r>
            <a:endParaRPr lang="en-US" sz="1050" dirty="0"/>
          </a:p>
        </p:txBody>
      </p:sp>
      <p:sp>
        <p:nvSpPr>
          <p:cNvPr id="27" name="Shape 20">
            <a:extLst>
              <a:ext uri="{FF2B5EF4-FFF2-40B4-BE49-F238E27FC236}">
                <a16:creationId xmlns:a16="http://schemas.microsoft.com/office/drawing/2014/main" id="{90D07F50-1BF5-AAC8-54C4-4765DA6ADF3D}"/>
              </a:ext>
            </a:extLst>
          </p:cNvPr>
          <p:cNvSpPr/>
          <p:nvPr/>
        </p:nvSpPr>
        <p:spPr>
          <a:xfrm>
            <a:off x="4663440" y="2527613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8" name="Shape 21">
            <a:extLst>
              <a:ext uri="{FF2B5EF4-FFF2-40B4-BE49-F238E27FC236}">
                <a16:creationId xmlns:a16="http://schemas.microsoft.com/office/drawing/2014/main" id="{C123F65C-4E60-FF2F-1CCB-D18F21CB5443}"/>
              </a:ext>
            </a:extLst>
          </p:cNvPr>
          <p:cNvSpPr/>
          <p:nvPr/>
        </p:nvSpPr>
        <p:spPr>
          <a:xfrm>
            <a:off x="4663440" y="2527613"/>
            <a:ext cx="73152" cy="10972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1A739E78-0631-E97F-224C-BDF9B5230BA6}"/>
              </a:ext>
            </a:extLst>
          </p:cNvPr>
          <p:cNvSpPr/>
          <p:nvPr/>
        </p:nvSpPr>
        <p:spPr>
          <a:xfrm>
            <a:off x="4892040" y="2619053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students cannot be reassigned to a new tutor</a:t>
            </a:r>
            <a:endParaRPr lang="en-US" sz="1200" dirty="0"/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D1B3FB71-72D2-41DA-770D-2C0F6A8C5896}"/>
              </a:ext>
            </a:extLst>
          </p:cNvPr>
          <p:cNvSpPr/>
          <p:nvPr/>
        </p:nvSpPr>
        <p:spPr>
          <a:xfrm>
            <a:off x="4892040" y="2851522"/>
            <a:ext cx="3931920" cy="6288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Tutors follow their own personalized curriculum tailored to their current students, so reassigning an existing student would disrupt their learning continuity and force them to adapt to a new teaching style and pace.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274320" y="20116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(a) — Minimise Tutors, then Maximise Preference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lexicographic approach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228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73152" cy="35204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1097280" cy="3657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502920" y="1371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91640" y="13898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 Tutors Used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8745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 Σ Y[t]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" y="2423160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minimum number of tutors K* needed to accommodate all 20 new students within capacity constraints.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should this be prioritized first?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active tutors lowers operational costs and administrative overhead for the tuition centre.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80560" y="1234440"/>
            <a:ext cx="43891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4" name="Shape 12"/>
          <p:cNvSpPr/>
          <p:nvPr/>
        </p:nvSpPr>
        <p:spPr>
          <a:xfrm>
            <a:off x="4480560" y="1234440"/>
            <a:ext cx="73152" cy="3520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Shape 13"/>
          <p:cNvSpPr/>
          <p:nvPr/>
        </p:nvSpPr>
        <p:spPr>
          <a:xfrm>
            <a:off x="4709160" y="1371600"/>
            <a:ext cx="109728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Text 14"/>
          <p:cNvSpPr/>
          <p:nvPr/>
        </p:nvSpPr>
        <p:spPr>
          <a:xfrm>
            <a:off x="4709160" y="1371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97880" y="138988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 Preference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09160" y="187452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 Σ score[s,t] · X[s,t]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s.t.  Σ Y[t] = K*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09160" y="278892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K* fixed, maximises the total preference score.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Scoring: </a:t>
            </a: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Pref1 match = 2,  Pref2 match = 1,  No match = 0.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274320" y="20116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(b) — Balance Workload, then Maximise Preference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lexicographic approach with pre-processing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228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8595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73152" cy="10058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Text 6"/>
          <p:cNvSpPr/>
          <p:nvPr/>
        </p:nvSpPr>
        <p:spPr>
          <a:xfrm>
            <a:off x="502920" y="12984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 — Iterative Mean Computation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5727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mean load → identify saturated tutors (existing load ≥ mean) → exclude &amp; recompute → repeat until stable.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A005, A007 marked saturated (receive no new students). Available tutors: A001–A004, A006, A008–A010. Converged mean = 2.88.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377440"/>
            <a:ext cx="402336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1" name="Shape 9"/>
          <p:cNvSpPr/>
          <p:nvPr/>
        </p:nvSpPr>
        <p:spPr>
          <a:xfrm>
            <a:off x="274320" y="2377440"/>
            <a:ext cx="73152" cy="24231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Shape 10"/>
          <p:cNvSpPr/>
          <p:nvPr/>
        </p:nvSpPr>
        <p:spPr>
          <a:xfrm>
            <a:off x="502920" y="2487168"/>
            <a:ext cx="1097280" cy="34747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Text 11"/>
          <p:cNvSpPr/>
          <p:nvPr/>
        </p:nvSpPr>
        <p:spPr>
          <a:xfrm>
            <a:off x="502920" y="248716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91640" y="250545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 Max Total Load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290779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 L_max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s.t.  existing[t] + Σ x[s,t] ≤ L_max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61188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all active tutors toward the mean μ. Balanced workload is prioritized as it prevents tutor burnout and improves retention.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80560" y="2377440"/>
            <a:ext cx="43891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8" name="Shape 16"/>
          <p:cNvSpPr/>
          <p:nvPr/>
        </p:nvSpPr>
        <p:spPr>
          <a:xfrm>
            <a:off x="4480560" y="2377440"/>
            <a:ext cx="73152" cy="2423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Shape 17"/>
          <p:cNvSpPr/>
          <p:nvPr/>
        </p:nvSpPr>
        <p:spPr>
          <a:xfrm>
            <a:off x="4709160" y="2487168"/>
            <a:ext cx="109728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0" name="Text 18"/>
          <p:cNvSpPr/>
          <p:nvPr/>
        </p:nvSpPr>
        <p:spPr>
          <a:xfrm>
            <a:off x="4709160" y="248716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897880" y="250545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 Preference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290779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 Σ score[s,t] · x[s,t]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s.t.  L_max = L_max*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361188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the optimal max load L_max*, then maximises preference score — same 2/1 weighted scoring scheme as Scenario (a).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274320" y="20116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from both scenarios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228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73152" cy="35204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(a)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783080" y="18013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Tutors Used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783080" y="208483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(minimum possible)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7889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783080" y="28072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Score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783080" y="30906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(out of max 40)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79018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783080" y="38130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 1 Matches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783080" y="409651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at first-choice centre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80560" y="1234440"/>
            <a:ext cx="43891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9" name="Shape 17"/>
          <p:cNvSpPr/>
          <p:nvPr/>
        </p:nvSpPr>
        <p:spPr>
          <a:xfrm>
            <a:off x="4480560" y="1234440"/>
            <a:ext cx="73152" cy="3520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0" name="Text 18"/>
          <p:cNvSpPr/>
          <p:nvPr/>
        </p:nvSpPr>
        <p:spPr>
          <a:xfrm>
            <a:off x="4709160" y="13258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(b)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09160" y="17830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2.88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172200" y="18013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Mean Load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72200" y="20848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(converged)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09160" y="27889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172200" y="28072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Total Load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72200" y="309067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(optimal, ≈ mean)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9160" y="37947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172200" y="38130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Score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72200" y="409651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pref1, 3 pref2, 1 no-match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274320" y="20116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Analysis — Alternative Scenario (b)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preference was prioritised first?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228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8595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73152" cy="7772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Text 6"/>
          <p:cNvSpPr/>
          <p:nvPr/>
        </p:nvSpPr>
        <p:spPr>
          <a:xfrm>
            <a:off x="502920" y="12984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5727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statement does not explicitly state which objective takes priority in Scenario (b). The original formulation (prioritizing workload) results in 1 no-match assignment — raising the question: should preference be prioritized first instead?</a:t>
            </a:r>
            <a:endParaRPr lang="en-US" sz="11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4005546-F262-8726-BCD1-77467CAA0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951" y="2144268"/>
            <a:ext cx="7385538" cy="27051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04682-CCD9-D0B6-AD20-C83361ABA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EFA9E8A-5543-5891-7C32-AC95A4FDFBBD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EC7360A-B89F-33DE-1DAD-90910F66BE57}"/>
              </a:ext>
            </a:extLst>
          </p:cNvPr>
          <p:cNvSpPr/>
          <p:nvPr/>
        </p:nvSpPr>
        <p:spPr>
          <a:xfrm>
            <a:off x="274320" y="20116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Analysis — Alternative Scenario (b)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F28BCC9-5845-E0BC-2A5A-D1F129958D2A}"/>
              </a:ext>
            </a:extLst>
          </p:cNvPr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preference was prioritised first?</a:t>
            </a:r>
            <a:endParaRPr lang="en-US" sz="13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8398B75-5042-059E-AA4A-87A4911AC0A5}"/>
              </a:ext>
            </a:extLst>
          </p:cNvPr>
          <p:cNvSpPr/>
          <p:nvPr/>
        </p:nvSpPr>
        <p:spPr>
          <a:xfrm>
            <a:off x="274320" y="1078992"/>
            <a:ext cx="8595360" cy="228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id="{28B66986-5011-578E-1CE3-B218A636D7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4915172"/>
              </p:ext>
            </p:extLst>
          </p:nvPr>
        </p:nvGraphicFramePr>
        <p:xfrm>
          <a:off x="274320" y="1275390"/>
          <a:ext cx="8595360" cy="26155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5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Original Scenario (b)</a:t>
                      </a:r>
                      <a:endParaRPr lang="en-US" sz="1000" dirty="0"/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Workload First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Alternative Scenario (b)</a:t>
                      </a:r>
                      <a:endParaRPr lang="en-US" sz="1000" dirty="0"/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Preference First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340"/>
                          </a:solidFill>
                        </a:rPr>
                        <a:t>Priority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</a:rPr>
                        <a:t>Balance workload → then preference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</a:rPr>
                        <a:t>Maximise preference → then balance workload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340"/>
                          </a:solidFill>
                        </a:rPr>
                        <a:t>Preference Score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</a:rPr>
                        <a:t>35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</a:rPr>
                        <a:t>40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340"/>
                          </a:solidFill>
                        </a:rPr>
                        <a:t>No-match Assignments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4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340"/>
                          </a:solidFill>
                        </a:rPr>
                        <a:t>Max Load for tutor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/>
                        <a:t>5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/>
                        <a:t>5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17592"/>
                  </a:ext>
                </a:extLst>
              </a:tr>
              <a:tr h="3584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340"/>
                          </a:solidFill>
                        </a:rPr>
                        <a:t>Min Load for tutor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</a:rPr>
                        <a:t>0 (assigned nothing)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4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340"/>
                          </a:solidFill>
                        </a:rPr>
                        <a:t>Verdict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</a:rPr>
                        <a:t>✓ Recommended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</a:rPr>
                        <a:t>✗ Not recommended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Shape 4">
            <a:extLst>
              <a:ext uri="{FF2B5EF4-FFF2-40B4-BE49-F238E27FC236}">
                <a16:creationId xmlns:a16="http://schemas.microsoft.com/office/drawing/2014/main" id="{057F1C74-C574-6D21-0B70-514C6678FA40}"/>
              </a:ext>
            </a:extLst>
          </p:cNvPr>
          <p:cNvSpPr/>
          <p:nvPr/>
        </p:nvSpPr>
        <p:spPr>
          <a:xfrm>
            <a:off x="274320" y="4064508"/>
            <a:ext cx="8595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3D27AEC1-8A51-5A3F-8127-A59BED9CBEB6}"/>
              </a:ext>
            </a:extLst>
          </p:cNvPr>
          <p:cNvSpPr/>
          <p:nvPr/>
        </p:nvSpPr>
        <p:spPr>
          <a:xfrm>
            <a:off x="274320" y="4064508"/>
            <a:ext cx="73152" cy="7772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6CE72CC2-2727-706C-6F06-1110D8A88E87}"/>
              </a:ext>
            </a:extLst>
          </p:cNvPr>
          <p:cNvSpPr/>
          <p:nvPr/>
        </p:nvSpPr>
        <p:spPr>
          <a:xfrm>
            <a:off x="502920" y="41285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D4789195-8AC4-1DFB-C152-1F510BF5D0FF}"/>
              </a:ext>
            </a:extLst>
          </p:cNvPr>
          <p:cNvSpPr/>
          <p:nvPr/>
        </p:nvSpPr>
        <p:spPr>
          <a:xfrm>
            <a:off x="502920" y="440283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alternative method does not give a desirable outcome. Despite the preference score being maximized, the workload among tutors is now heavily imbalanced, so the alternative is not recommended.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921062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253680">
              <a:alpha val="40000"/>
            </a:srgbClr>
          </a:solidFill>
          <a:ln w="12700">
            <a:solidFill>
              <a:srgbClr val="25368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152050">
              <a:alpha val="60000"/>
            </a:srgbClr>
          </a:solidFill>
          <a:ln w="12700">
            <a:solidFill>
              <a:srgbClr val="15205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14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Text 13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HTX xData Technical Assessment  |  Tan Lu Yan  |  4</a:t>
            </a:r>
            <a:r>
              <a:rPr lang="en-US" sz="1000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March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563</TotalTime>
  <Words>1120</Words>
  <Application>Microsoft Office PowerPoint</Application>
  <PresentationFormat>On-screen Show (16:9)</PresentationFormat>
  <Paragraphs>162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Tuition Centre Student-Tutor Assignment Optimisation</dc:title>
  <dc:subject>PptxGenJS Presentation</dc:subject>
  <dc:creator>PptxGenJS</dc:creator>
  <cp:lastModifiedBy>#TAN LU YAN#</cp:lastModifiedBy>
  <cp:revision>9</cp:revision>
  <dcterms:created xsi:type="dcterms:W3CDTF">2026-03-01T13:35:29Z</dcterms:created>
  <dcterms:modified xsi:type="dcterms:W3CDTF">2026-03-02T07:09:44Z</dcterms:modified>
</cp:coreProperties>
</file>